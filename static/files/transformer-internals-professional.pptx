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711101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87301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93769" y="711101"/>
            <a:ext cx="1037481" cy="295275"/>
          </a:xfrm>
          <a:prstGeom prst="roundRect">
            <a:avLst>
              <a:gd name="adj" fmla="val 1720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71470" y="787301"/>
            <a:ext cx="6957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447800"/>
            <a:ext cx="7668869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Changed Since 2017?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2750" y="2400300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717750"/>
            <a:ext cx="7668869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stayed the same. Everything around it evolved: position encoding, normalization, and attention scaling.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750" y="3439269"/>
            <a:ext cx="766886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distills the core architecture shifts behind long-context, high-parameter transformers.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750" y="3965823"/>
            <a:ext cx="1115913" cy="364927"/>
          </a:xfrm>
          <a:prstGeom prst="roundRect">
            <a:avLst>
              <a:gd name="adj" fmla="val 20881"/>
            </a:avLst>
          </a:prstGeom>
          <a:solidFill>
            <a:srgbClr val="FFFFFF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9976" y="4076849"/>
            <a:ext cx="756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to 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1064" y="3965823"/>
            <a:ext cx="1920180" cy="364927"/>
          </a:xfrm>
          <a:prstGeom prst="roundRect">
            <a:avLst>
              <a:gd name="adj" fmla="val 20881"/>
            </a:avLst>
          </a:prstGeom>
          <a:solidFill>
            <a:srgbClr val="FFFFFF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68289" y="4076849"/>
            <a:ext cx="1576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+ Norm + Attention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53644" y="3965823"/>
            <a:ext cx="1694408" cy="364927"/>
          </a:xfrm>
          <a:prstGeom prst="roundRect">
            <a:avLst>
              <a:gd name="adj" fmla="val 20881"/>
            </a:avLst>
          </a:prstGeom>
          <a:solidFill>
            <a:srgbClr val="FFFFFF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40870" y="4076849"/>
            <a:ext cx="13463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and GPT lineage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27205" y="660350"/>
            <a:ext cx="1404045" cy="295275"/>
          </a:xfrm>
          <a:prstGeom prst="roundRect">
            <a:avLst>
              <a:gd name="adj" fmla="val 17204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04906" y="736550"/>
            <a:ext cx="1069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257300"/>
            <a:ext cx="61247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upgrades that unlocked scale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2750" y="1892201"/>
            <a:ext cx="2336899" cy="1682502"/>
          </a:xfrm>
          <a:prstGeom prst="roundRect">
            <a:avLst>
              <a:gd name="adj" fmla="val 7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36563" y="1892201"/>
            <a:ext cx="0" cy="1682502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4276" y="2146102"/>
            <a:ext cx="18171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4276" y="2482602"/>
            <a:ext cx="181710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vectors gave way to RoPE/ALiBi, injecting order where attention happens.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3550" y="1892201"/>
            <a:ext cx="2336899" cy="1682502"/>
          </a:xfrm>
          <a:prstGeom prst="roundRect">
            <a:avLst>
              <a:gd name="adj" fmla="val 7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27363" y="1892201"/>
            <a:ext cx="0" cy="1682502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5076" y="2146102"/>
            <a:ext cx="18171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5076" y="2482602"/>
            <a:ext cx="181710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Post-norm became pre-norm, and LayerNorm simplified into faster RMSNorm.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94350" y="1892201"/>
            <a:ext cx="2336899" cy="1682502"/>
          </a:xfrm>
          <a:prstGeom prst="roundRect">
            <a:avLst>
              <a:gd name="adj" fmla="val 7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18163" y="1892201"/>
            <a:ext cx="0" cy="1682502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5876" y="2146102"/>
            <a:ext cx="18171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Scaling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5876" y="2482602"/>
            <a:ext cx="181710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attention morphed into sparse windows and GQA to control O(n^2) costs.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43452" y="660350"/>
            <a:ext cx="1187797" cy="295275"/>
          </a:xfrm>
          <a:prstGeom prst="roundRect">
            <a:avLst>
              <a:gd name="adj" fmla="val 17204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21153" y="736550"/>
            <a:ext cx="849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257300"/>
            <a:ext cx="4261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512 tokens to 128K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2750" y="1892201"/>
            <a:ext cx="2336899" cy="2102346"/>
          </a:xfrm>
          <a:prstGeom prst="roundRect">
            <a:avLst>
              <a:gd name="adj" fmla="val 6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41350" y="2120801"/>
            <a:ext cx="1917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BASELINE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41350" y="2365177"/>
            <a:ext cx="19172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65M params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41350" y="2870002"/>
            <a:ext cx="19172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length: 512 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1350" y="3141762"/>
            <a:ext cx="19172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attention, post-norm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3550" y="1892201"/>
            <a:ext cx="2336899" cy="2102346"/>
          </a:xfrm>
          <a:prstGeom prst="roundRect">
            <a:avLst>
              <a:gd name="adj" fmla="val 6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32150" y="2120801"/>
            <a:ext cx="1917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 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32150" y="2365177"/>
            <a:ext cx="191729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100B+ params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32150" y="3222427"/>
            <a:ext cx="19172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length: 128K tokens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2150" y="3494187"/>
            <a:ext cx="19172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attention + GQA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94350" y="1892201"/>
            <a:ext cx="2336899" cy="2102346"/>
          </a:xfrm>
          <a:prstGeom prst="roundRect">
            <a:avLst>
              <a:gd name="adj" fmla="val 6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2950" y="2120801"/>
            <a:ext cx="1917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ENABLERS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22950" y="2365177"/>
            <a:ext cx="19172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upgrades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22950" y="2870002"/>
            <a:ext cx="191729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Position, norm, attention mechanics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2950" y="3337322"/>
            <a:ext cx="19172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over raw compute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73130" y="660350"/>
            <a:ext cx="1858119" cy="295275"/>
          </a:xfrm>
          <a:prstGeom prst="roundRect">
            <a:avLst>
              <a:gd name="adj" fmla="val 17204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0831" y="736550"/>
            <a:ext cx="1532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EMBEDDINGS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257300"/>
            <a:ext cx="60972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generations of position encoding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50" y="1765250"/>
            <a:ext cx="7518499" cy="726877"/>
          </a:xfrm>
          <a:prstGeom prst="roundRect">
            <a:avLst>
              <a:gd name="adj" fmla="val 10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0451" y="1892201"/>
            <a:ext cx="660202" cy="472976"/>
          </a:xfrm>
          <a:prstGeom prst="roundRect">
            <a:avLst>
              <a:gd name="adj" fmla="val 1074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87380" y="2057251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03053" y="1892201"/>
            <a:ext cx="64775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and sinusoidal embeddings at the input layer. Limited extrapolation.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750" y="2593628"/>
            <a:ext cx="7518499" cy="726877"/>
          </a:xfrm>
          <a:prstGeom prst="roundRect">
            <a:avLst>
              <a:gd name="adj" fmla="val 10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0451" y="2720578"/>
            <a:ext cx="660202" cy="472976"/>
          </a:xfrm>
          <a:prstGeom prst="roundRect">
            <a:avLst>
              <a:gd name="adj" fmla="val 1074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87380" y="2885629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03053" y="2720578"/>
            <a:ext cx="64775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rotates Q/K vectors, encoding relative position where attention happens.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2750" y="3422005"/>
            <a:ext cx="7518499" cy="726877"/>
          </a:xfrm>
          <a:prstGeom prst="roundRect">
            <a:avLst>
              <a:gd name="adj" fmla="val 10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90451" y="3548955"/>
            <a:ext cx="660202" cy="472976"/>
          </a:xfrm>
          <a:prstGeom prst="roundRect">
            <a:avLst>
              <a:gd name="adj" fmla="val 1074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87380" y="3714006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3053" y="3548955"/>
            <a:ext cx="64775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ALiBi adds linear distance bias inside attention; strong length generalization.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2750" y="4250382"/>
            <a:ext cx="7518499" cy="726877"/>
          </a:xfrm>
          <a:prstGeom prst="roundRect">
            <a:avLst>
              <a:gd name="adj" fmla="val 10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90451" y="4377333"/>
            <a:ext cx="660202" cy="472976"/>
          </a:xfrm>
          <a:prstGeom prst="roundRect">
            <a:avLst>
              <a:gd name="adj" fmla="val 1074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87380" y="4542383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03053" y="4377333"/>
            <a:ext cx="64775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 experiments drop explicit position signals to reduce overfitting.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20210" y="660350"/>
            <a:ext cx="1411039" cy="295275"/>
          </a:xfrm>
          <a:prstGeom prst="roundRect">
            <a:avLst>
              <a:gd name="adj" fmla="val 17204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97911" y="736550"/>
            <a:ext cx="1076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257300"/>
            <a:ext cx="5963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Post-norm -&gt; Pre-norm -&gt; RMSNorm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50" y="1828800"/>
            <a:ext cx="2353717" cy="1827609"/>
          </a:xfrm>
          <a:prstGeom prst="roundRect">
            <a:avLst>
              <a:gd name="adj" fmla="val 6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5901" y="2031950"/>
            <a:ext cx="1986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Post-Norm (2017)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5901" y="2358926"/>
            <a:ext cx="198636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 after residual: harder gradient flow in deep stacks.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5901" y="3072557"/>
            <a:ext cx="1947416" cy="380702"/>
          </a:xfrm>
          <a:prstGeom prst="roundRect">
            <a:avLst>
              <a:gd name="adj" fmla="val 2001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68301" y="3174057"/>
            <a:ext cx="167546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LayerNorm(x + F(x))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95067" y="1828800"/>
            <a:ext cx="2353717" cy="1827609"/>
          </a:xfrm>
          <a:prstGeom prst="roundRect">
            <a:avLst>
              <a:gd name="adj" fmla="val 6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98218" y="2031950"/>
            <a:ext cx="1986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Pre-Norm (Modern)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98218" y="2358926"/>
            <a:ext cx="198636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is a clean highway; stable training at depth.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98218" y="2876996"/>
            <a:ext cx="1947416" cy="380702"/>
          </a:xfrm>
          <a:prstGeom prst="roundRect">
            <a:avLst>
              <a:gd name="adj" fmla="val 2001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50618" y="2978497"/>
            <a:ext cx="167546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F(LayerNorm(x))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77384" y="1828800"/>
            <a:ext cx="2353717" cy="1827609"/>
          </a:xfrm>
          <a:prstGeom prst="roundRect">
            <a:avLst>
              <a:gd name="adj" fmla="val 6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0534" y="2031950"/>
            <a:ext cx="1986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 + QK-Norm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0534" y="2358926"/>
            <a:ext cx="198636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mean subtraction. Faster, fewer params, stable.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0534" y="2876996"/>
            <a:ext cx="1947416" cy="558403"/>
          </a:xfrm>
          <a:prstGeom prst="roundRect">
            <a:avLst>
              <a:gd name="adj" fmla="val 1364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2934" y="2978497"/>
            <a:ext cx="167546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RMSNorm(x) = x / RMS(x)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20992" y="660350"/>
            <a:ext cx="1110258" cy="295275"/>
          </a:xfrm>
          <a:prstGeom prst="roundRect">
            <a:avLst>
              <a:gd name="adj" fmla="val 1720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98693" y="736550"/>
            <a:ext cx="7699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257300"/>
            <a:ext cx="55446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MLA + MoE: modern scaling tricks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50" y="1828800"/>
            <a:ext cx="3632299" cy="1911251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41350" y="2057400"/>
            <a:ext cx="32386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Latent Attention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1350" y="2419350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 K/V into a latent cache, then project back at inference.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1350" y="2965400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V3/R1 shows strong quality with smaller cache memory.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8950" y="1828800"/>
            <a:ext cx="3632299" cy="1911251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7550" y="2057400"/>
            <a:ext cx="32386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27550" y="2419350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each token to a small subset of experts instead of one giant FFN.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27550" y="2965400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total parameters with manageable per-token compute.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58794" y="660350"/>
            <a:ext cx="1072455" cy="295275"/>
          </a:xfrm>
          <a:prstGeom prst="roundRect">
            <a:avLst>
              <a:gd name="adj" fmla="val 17204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36495" y="736550"/>
            <a:ext cx="731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257300"/>
            <a:ext cx="73010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-&gt; Grouped-Query -&gt; Multi-Query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50" y="1828800"/>
            <a:ext cx="2353717" cy="1802160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5901" y="2031950"/>
            <a:ext cx="1986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 (Original)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5901" y="2358926"/>
            <a:ext cx="198636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 and V head per query head. Maximum expressivity but large KV cache.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5901" y="3047107"/>
            <a:ext cx="1947416" cy="380702"/>
          </a:xfrm>
          <a:prstGeom prst="roundRect">
            <a:avLst>
              <a:gd name="adj" fmla="val 20016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68301" y="3148608"/>
            <a:ext cx="167546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flexibility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95067" y="1828800"/>
            <a:ext cx="2353717" cy="1802160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98218" y="2031950"/>
            <a:ext cx="1986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 (2023)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98218" y="2358926"/>
            <a:ext cx="198636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query heads share K/V. Balance between memory and quality.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98218" y="3047107"/>
            <a:ext cx="1947416" cy="380702"/>
          </a:xfrm>
          <a:prstGeom prst="roundRect">
            <a:avLst>
              <a:gd name="adj" fmla="val 20016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50618" y="3148608"/>
            <a:ext cx="167546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trade-off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77384" y="1828800"/>
            <a:ext cx="2353717" cy="1802160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0534" y="2031950"/>
            <a:ext cx="1986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0534" y="2358926"/>
            <a:ext cx="198636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K/V for all queries. Minimal cache but some quality loss.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0534" y="3047107"/>
            <a:ext cx="1947416" cy="380702"/>
          </a:xfrm>
          <a:prstGeom prst="roundRect">
            <a:avLst>
              <a:gd name="adj" fmla="val 20016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2934" y="3148608"/>
            <a:ext cx="167546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11863" y="660350"/>
            <a:ext cx="1519386" cy="295275"/>
          </a:xfrm>
          <a:prstGeom prst="roundRect">
            <a:avLst>
              <a:gd name="adj" fmla="val 17204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9564" y="736550"/>
            <a:ext cx="11872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LENGTH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257300"/>
            <a:ext cx="59926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attention and sliding windows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50" y="1828800"/>
            <a:ext cx="3632299" cy="1936552"/>
          </a:xfrm>
          <a:prstGeom prst="roundRect">
            <a:avLst>
              <a:gd name="adj" fmla="val 6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41350" y="2057400"/>
            <a:ext cx="32386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Windows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1350" y="2444651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attends only to nearby positions. O(n) instead of O(n^2).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1350" y="2990701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for most language patterns where locality matters.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8950" y="1828800"/>
            <a:ext cx="3632299" cy="1936552"/>
          </a:xfrm>
          <a:prstGeom prst="roundRect">
            <a:avLst>
              <a:gd name="adj" fmla="val 6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7550" y="2057400"/>
            <a:ext cx="32386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Tokens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27550" y="2444651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positions attend everywhere. Helps long-range dependencies.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27550" y="2990701"/>
            <a:ext cx="32386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Longformer and BigBird pioneered this hybrid approach.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534400" cy="4533900"/>
          </a:xfrm>
          <a:prstGeom prst="roundRect">
            <a:avLst>
              <a:gd name="adj" fmla="val 336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101501" cy="4533900"/>
          </a:xfrm>
          <a:prstGeom prst="roundRect">
            <a:avLst>
              <a:gd name="adj" fmla="val 1501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660350"/>
            <a:ext cx="2422327" cy="295275"/>
          </a:xfrm>
          <a:prstGeom prst="roundRect">
            <a:avLst>
              <a:gd name="adj" fmla="val 1720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736550"/>
            <a:ext cx="20563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INTERNALS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24576" y="660350"/>
            <a:ext cx="1006673" cy="29527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02277" y="736550"/>
            <a:ext cx="664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2750" y="1574750"/>
            <a:ext cx="7668869" cy="105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attention mechanism endures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2750" y="2527250"/>
            <a:ext cx="762000" cy="50750"/>
          </a:xfrm>
          <a:prstGeom prst="roundRect">
            <a:avLst>
              <a:gd name="adj" fmla="val 5004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844701"/>
            <a:ext cx="7668869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position encoding, normalization, and efficiency tricks evolved dramatically, the fundamental scaled dot-product attention remains unchanged since 2017.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750" y="3591520"/>
            <a:ext cx="7668869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transformers are not new architectures but refined implementations optimized for scale and long context.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750" y="3984873"/>
            <a:ext cx="1082427" cy="345877"/>
          </a:xfrm>
          <a:prstGeom prst="roundRect">
            <a:avLst>
              <a:gd name="adj" fmla="val 2203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0451" y="4086374"/>
            <a:ext cx="7415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/ ALiBi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47577" y="3984873"/>
            <a:ext cx="1582936" cy="345877"/>
          </a:xfrm>
          <a:prstGeom prst="roundRect">
            <a:avLst>
              <a:gd name="adj" fmla="val 2203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25278" y="4086374"/>
            <a:ext cx="1252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Pre-norm / RMSNorm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82913" y="3984873"/>
            <a:ext cx="1357461" cy="345877"/>
          </a:xfrm>
          <a:prstGeom prst="roundRect">
            <a:avLst>
              <a:gd name="adj" fmla="val 2203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60614" y="4086374"/>
            <a:ext cx="10221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 / MLA / MoE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Internals: What Changed Since 2017</dc:title>
  <dc:subject>Technical Deep Dive</dc:subject>
  <dc:creator>Professional Presentation</dc:creator>
  <cp:lastModifiedBy>Professional Presentation</cp:lastModifiedBy>
  <cp:revision>1</cp:revision>
  <dcterms:created xsi:type="dcterms:W3CDTF">2026-01-04T04:12:06Z</dcterms:created>
  <dcterms:modified xsi:type="dcterms:W3CDTF">2026-01-04T04:12:06Z</dcterms:modified>
</cp:coreProperties>
</file>